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6E081A-5B44-48D7-84AF-7DBFA2CBFCB2}">
  <a:tblStyle styleId="{166E081A-5B44-48D7-84AF-7DBFA2CBFC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4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italic.fntdata"/><Relationship Id="rId14" Type="http://schemas.openxmlformats.org/officeDocument/2006/relationships/slide" Target="slides/slide8.xml"/><Relationship Id="rId36" Type="http://schemas.openxmlformats.org/officeDocument/2006/relationships/font" Target="fonts/Raleway-bold.fntdata"/><Relationship Id="rId17" Type="http://schemas.openxmlformats.org/officeDocument/2006/relationships/slide" Target="slides/slide11.xml"/><Relationship Id="rId39" Type="http://schemas.openxmlformats.org/officeDocument/2006/relationships/font" Target="fonts/Lato-regular.fntdata"/><Relationship Id="rId16" Type="http://schemas.openxmlformats.org/officeDocument/2006/relationships/slide" Target="slides/slide10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c523300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c523300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c5233001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c523300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c5233001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c5233001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c5233001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c5233001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c5233001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c5233001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c5233001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c5233001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c5233001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c5233001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c5233001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c5233001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c5233001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c5233001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c5233001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0c5233001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5233001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5233001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c5233001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0c5233001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c5233001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c5233001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c5233001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0c5233001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c5233001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c5233001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c5233001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c5233001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c5233001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0c5233001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c5233001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c5233001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c5233001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0c5233001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5233001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5233001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c5233001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c5233001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c5233001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c5233001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c5233001c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0c5233001c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0c5233001c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0c5233001c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0c5233001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0c5233001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d9c67055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d9c67055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c5233001c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c5233001c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6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1" l="0" r="0" t="4362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6" l="9050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6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945250" y="1671775"/>
            <a:ext cx="7314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Offline Handwritten Character Recognition using Few-Shot Learning</a:t>
            </a:r>
            <a:endParaRPr b="1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690175" y="2172475"/>
            <a:ext cx="1743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Thesis ID- T2310060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99225" y="2920550"/>
            <a:ext cx="18474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Submitted by-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Priya Saha</a:t>
            </a:r>
            <a:b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22241185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325" y="590075"/>
            <a:ext cx="1404576" cy="11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664000" y="2834250"/>
            <a:ext cx="27852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Supervised by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Annajiat Alim Rasel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Senior Lecturer,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Dept of Computer Science and Engineering,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BRAC University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3287350" y="1199950"/>
            <a:ext cx="2037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1" sz="24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46025" y="1959575"/>
            <a:ext cx="37059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Converts handwritten or printed text into digital data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Important for digital accessibility in translation, all sort of document management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881950" y="2155225"/>
            <a:ext cx="3216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Optical Character Recognition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054000" y="2155225"/>
            <a:ext cx="3527700" cy="23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Complex and recursive shape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Compound characters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169100" y="2270300"/>
            <a:ext cx="3193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Bangla Character Recognition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Research Problem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Lack of prior work on Bangla Optical character recognition with limited datasets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Difficult to train model with limited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Achieve recognition with minimal training samples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729450" y="1430150"/>
            <a:ext cx="7688700" cy="29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a cutting-edge deep learning approach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is designed to learn from very few labelled examples more like humans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technique is ideal </a:t>
            </a:r>
            <a:r>
              <a:rPr lang="en"/>
              <a:t>approach</a:t>
            </a:r>
            <a:r>
              <a:rPr lang="en"/>
              <a:t> for image classification with </a:t>
            </a:r>
            <a:r>
              <a:rPr lang="en"/>
              <a:t>scarce</a:t>
            </a:r>
            <a:r>
              <a:rPr lang="en"/>
              <a:t> datasets in any domains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985525" y="1602775"/>
            <a:ext cx="7152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What is Few-shot Learning?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Making a new research path for low resource language datasets </a:t>
            </a:r>
            <a:r>
              <a:rPr lang="en"/>
              <a:t>which have complex characteristics like Bangla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Apply few shot learning with prototypical networks to Bangla character recognition for the first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experiment with how the prototypical network fits with image classification models like ResNet50, VGG16, MobileNet, DenseNet121, InceptionV3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Review(1)</a:t>
            </a:r>
            <a:endParaRPr/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888775" y="2571750"/>
            <a:ext cx="42342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Breaks down compound characters into distinct shape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Segmentation focus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Achieved higher accuracy with fewer classes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778375" y="1953800"/>
            <a:ext cx="7584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Shape decomposition-based handwritten compound character recognition for Bangla OCR</a:t>
            </a:r>
            <a:endParaRPr b="1" sz="16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5635225" y="2698150"/>
            <a:ext cx="3314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Struggle with highly complex or irregular compound characters where is segmentation is unclear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772625" y="1936550"/>
            <a:ext cx="7509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32323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Bangla Handwritten Character Recognition Using Extended Convolutional Neural Network</a:t>
            </a:r>
            <a:endParaRPr b="1" sz="1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755350" y="2684650"/>
            <a:ext cx="39765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CNN architecture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Evaluated on the BanglaLekha-Isolated dataset with 39 consonant classes and 11 vowel classes.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174850" y="2678875"/>
            <a:ext cx="3412500" cy="1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Lower accuracy for consonants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729450" y="2571750"/>
            <a:ext cx="3495900" cy="17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face mapping  and basic machine learning with Scikit-Learn and SVM </a:t>
            </a:r>
            <a:r>
              <a:rPr lang="en"/>
              <a:t>classifier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Mainly focused on 11 vowel characters</a:t>
            </a:r>
            <a:endParaRPr/>
          </a:p>
        </p:txBody>
      </p:sp>
      <p:sp>
        <p:nvSpPr>
          <p:cNvPr id="189" name="Google Shape;189;p24"/>
          <p:cNvSpPr txBox="1"/>
          <p:nvPr/>
        </p:nvSpPr>
        <p:spPr>
          <a:xfrm>
            <a:off x="703800" y="1953800"/>
            <a:ext cx="77400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31314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A machine learning approach for Bengali handwritten vowel character recognition</a:t>
            </a:r>
            <a:endParaRPr sz="1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887125" y="2483225"/>
            <a:ext cx="35310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 doesn’t scale well with their datasets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729450" y="2402675"/>
            <a:ext cx="3530400" cy="19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Omniglot Dataset: 98.8% accuracy for 1-shot 5-way, 99.7% for 5-shot 5-way classification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miniImageNet Dataset: 49.42% accuracy for 1-shot 5-way, 68.20% for 5-shot 5-way classification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1935050" y="1909575"/>
            <a:ext cx="508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Prototypical networks for few-shot learning</a:t>
            </a:r>
            <a:endParaRPr b="1" sz="1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4472800" y="2540775"/>
            <a:ext cx="4131900" cy="1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Lower performance on complex datasets like miniImageNet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856050" y="2471725"/>
            <a:ext cx="3812400" cy="18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recognize Urdu handwritten characters with small dataset using Euclidean embeddings and class prototypes for classification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Prototypical network effective for minimal data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720825" y="1873250"/>
            <a:ext cx="768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 enhanced prototypical network architecture for few-shot handwritten urdu character recognition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904400" y="2402675"/>
            <a:ext cx="36771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Limited data hampers model training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Euclidean distance cannot handle all character variations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Review(6)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729450" y="2719175"/>
            <a:ext cx="3605100" cy="17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twin CNN architecture for feature extraction in few shot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Achieved 83.39% accuracy in 40 shot scenario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726575" y="1988325"/>
            <a:ext cx="7728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1314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Few-Shot Learning for Tamil Handwritten Character Recognition Using Deep Siamese Convolutional Neural Network</a:t>
            </a:r>
            <a:endParaRPr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4633925" y="2696150"/>
            <a:ext cx="37578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Moderate accuracy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2389650" y="1301400"/>
            <a:ext cx="39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729450" y="2078875"/>
            <a:ext cx="3075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Original Dataset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my thesis project, I utilized the BanglaLekha-Isolated image dataset, This dataset contains 84 distinct characters, including 50 basic Bangla characters, 10 Bangla numerals, and 24 selected compound characters. </a:t>
            </a:r>
            <a:endParaRPr sz="1200"/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675" y="2172475"/>
            <a:ext cx="2818450" cy="23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729450" y="2078875"/>
            <a:ext cx="3478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Custom Dataset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reduced its size to make it suitable for few-shot learning. I selected 50 basic Bangla characters, 10 Bangla numerals, and 12 compound characters, totaling 72 characters. For each character, I chose 20 image samples.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900" y="1827875"/>
            <a:ext cx="2915009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1819950" y="1353175"/>
            <a:ext cx="447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 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568325" y="2159450"/>
            <a:ext cx="40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Images resized to 224x224 pixels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Normalize Pixel Values to [0, 1]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character class stored in separate folders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images converted to numerical arrays and assigned labels.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80% of data used for training, 20% for testing</a:t>
            </a:r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025" y="2159450"/>
            <a:ext cx="4143199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Few Shot Learning Setup with Prototypical Network</a:t>
            </a:r>
            <a:endParaRPr sz="2200"/>
          </a:p>
        </p:txBody>
      </p:sp>
      <p:sp>
        <p:nvSpPr>
          <p:cNvPr id="241" name="Google Shape;241;p31"/>
          <p:cNvSpPr txBox="1"/>
          <p:nvPr/>
        </p:nvSpPr>
        <p:spPr>
          <a:xfrm>
            <a:off x="761125" y="2005600"/>
            <a:ext cx="65946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class has 20 images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Set  5 images for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support set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15 for query set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Class prototypes computed as the mean embeddings of support set images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Classification performed by calculating the distance between query image embeddings and class prototypes.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75" y="1781413"/>
            <a:ext cx="4679975" cy="9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825" y="515175"/>
            <a:ext cx="4349175" cy="10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25" y="4054000"/>
            <a:ext cx="5367725" cy="9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/>
          <p:cNvPicPr preferRelativeResize="0"/>
          <p:nvPr/>
        </p:nvPicPr>
        <p:blipFill rotWithShape="1">
          <a:blip r:embed="rId6">
            <a:alphaModFix/>
          </a:blip>
          <a:srcRect b="0" l="-11830" r="-21698" t="0"/>
          <a:stretch/>
        </p:blipFill>
        <p:spPr>
          <a:xfrm>
            <a:off x="4467025" y="2881400"/>
            <a:ext cx="4349175" cy="10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ResNet50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503575" y="2205475"/>
            <a:ext cx="3061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deep convolutional neural network with 50 layers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as the backbone for feature extraction in the few-shot learning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 80%</a:t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575" y="1395625"/>
            <a:ext cx="2517650" cy="14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2600" y="1349575"/>
            <a:ext cx="2408375" cy="15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750" y="3212950"/>
            <a:ext cx="2387200" cy="155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729450" y="1318650"/>
            <a:ext cx="3156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503575" y="2205475"/>
            <a:ext cx="3061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lightweight convolutional neural network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224*224 image resolution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 of 79%</a:t>
            </a: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125" y="854700"/>
            <a:ext cx="2681600" cy="177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4575" y="854700"/>
            <a:ext cx="2430351" cy="171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3400" y="2698351"/>
            <a:ext cx="2601046" cy="220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title"/>
          </p:nvPr>
        </p:nvSpPr>
        <p:spPr>
          <a:xfrm>
            <a:off x="729450" y="1318650"/>
            <a:ext cx="3156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InceptionV3</a:t>
            </a:r>
            <a:endParaRPr/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503575" y="2205475"/>
            <a:ext cx="3061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Image classified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Employ multiple </a:t>
            </a:r>
            <a:r>
              <a:rPr lang="en"/>
              <a:t>parallel</a:t>
            </a:r>
            <a:r>
              <a:rPr lang="en"/>
              <a:t> convolutional layers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 66%</a:t>
            </a:r>
            <a:endParaRPr/>
          </a:p>
        </p:txBody>
      </p:sp>
      <p:pic>
        <p:nvPicPr>
          <p:cNvPr id="274" name="Google Shape;2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550" y="1204237"/>
            <a:ext cx="2742225" cy="17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0850" y="1173950"/>
            <a:ext cx="2532024" cy="17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850" y="3082988"/>
            <a:ext cx="2236407" cy="189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729450" y="1318650"/>
            <a:ext cx="3156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DenseNet121</a:t>
            </a:r>
            <a:endParaRPr/>
          </a:p>
        </p:txBody>
      </p: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503575" y="2205475"/>
            <a:ext cx="3061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Utilizes densely connected layers to improve information flow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Efficient in reusing features across layers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 71%</a:t>
            </a:r>
            <a:endParaRPr/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125" y="1269025"/>
            <a:ext cx="2724976" cy="18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8425" y="1291125"/>
            <a:ext cx="2487450" cy="17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8126" y="3131450"/>
            <a:ext cx="2111403" cy="17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729450" y="1318650"/>
            <a:ext cx="3156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VGG16</a:t>
            </a:r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503575" y="2205475"/>
            <a:ext cx="3061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16-layer convolutional neural network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Simple architecture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 62%</a:t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 rotWithShape="1">
          <a:blip r:embed="rId3">
            <a:alphaModFix/>
          </a:blip>
          <a:srcRect b="0" l="1410" r="-1410" t="0"/>
          <a:stretch/>
        </p:blipFill>
        <p:spPr>
          <a:xfrm>
            <a:off x="3621125" y="1202725"/>
            <a:ext cx="2779451" cy="171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575" y="1239150"/>
            <a:ext cx="2693150" cy="167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9326" y="2983649"/>
            <a:ext cx="2265313" cy="192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Prediction from Query Set</a:t>
            </a:r>
            <a:endParaRPr/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000" y="2028625"/>
            <a:ext cx="4540375" cy="8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175" y="2286700"/>
            <a:ext cx="1992838" cy="19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3163" y="2993875"/>
            <a:ext cx="1992838" cy="19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026" y="2286700"/>
            <a:ext cx="1992838" cy="1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727650" y="1307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Performance Metrics Table</a:t>
            </a:r>
            <a:endParaRPr sz="2400"/>
          </a:p>
        </p:txBody>
      </p:sp>
      <p:graphicFrame>
        <p:nvGraphicFramePr>
          <p:cNvPr id="309" name="Google Shape;309;p39"/>
          <p:cNvGraphicFramePr/>
          <p:nvPr/>
        </p:nvGraphicFramePr>
        <p:xfrm>
          <a:off x="952500" y="211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{166E081A-5B44-48D7-84AF-7DBFA2CBFCB2}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Precision(%)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Recall(%)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 Score(%)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Accuracy(%)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ResNet50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70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68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66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68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VGG16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62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62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59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62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MobileNet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82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79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79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79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InceptionV3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69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66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64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66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DenseNet121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72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70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70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</a:rPr>
                        <a:t>71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Lack of available datasets for few shot learning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Model did not perform well on unseen examples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Lack of resources </a:t>
            </a:r>
            <a:r>
              <a:rPr lang="en"/>
              <a:t>customize</a:t>
            </a:r>
            <a:r>
              <a:rPr lang="en"/>
              <a:t> Bangla language for this few shot learning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Time constraint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Creating a new research path for Bangla character recognition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research </a:t>
            </a:r>
            <a:r>
              <a:rPr lang="en"/>
              <a:t>highlights</a:t>
            </a:r>
            <a:r>
              <a:rPr lang="en"/>
              <a:t> on the potentiality of few-shot </a:t>
            </a:r>
            <a:r>
              <a:rPr lang="en"/>
              <a:t>learning technique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Low resource tribal languages will get benefits that ensures their digital footprints like other popular languages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800"/>
              <a:t>Thank You</a:t>
            </a:r>
            <a:endParaRPr sz="4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32" name="Google Shape;332;p43"/>
          <p:cNvSpPr txBox="1"/>
          <p:nvPr>
            <p:ph idx="1" type="body"/>
          </p:nvPr>
        </p:nvSpPr>
        <p:spPr>
          <a:xfrm>
            <a:off x="758225" y="1930800"/>
            <a:ext cx="76887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[2] J. Snell, K. Swersky, and R. Zemel, “Prototypical networks for few-shot learning,” in Advances in Neural Information Processing Systems, I. Guyon, U. V. Luxburg, S. Bengio, et al., Eds., vol. 30, Curran Associates, Inc., 2017. [Online]. Available: https://proceedings.neurips.cc/paper files/paper/2017/file/ cb8da6767461f2812ae4290eac7cbc42-Paper.pdf.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[4] R. Pramanik and S. Bag, “Shape decomposition-based handwritten compound character recognition for bangla ocr,” Journal of Visual Communication and Image Representation, vol. 50, pp. 123–134, 2018.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[14] T. R. Das, S. Hasan, M. R. Jani, F. Tabassum, and M. I. Islam, “Bangla handwritten character recognition using extended convolutional neural network,” Journal of Computer and Communications, vol. 9, no. 03, pp. 158–171, 2021.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758225" y="1930800"/>
            <a:ext cx="76887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[16] S. Ahsan, T. N. Shah, T. B. Sarwar, M. S. U. Miah, and A. Bhowmik, “A machine learning approach for bengali handwritten vowel character recognition,” IAES International Journal of Artificial Intelligence, vol. 11, no. 3, p. 1143, 2022.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[19] R. Sahay and M. Coustaty, “An enhanced prototypical network architecture for few-shot handwritten urdu character recognition,” IEEE Access, vol. 11, pp. 33 682–33 696, 2023.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highlight>
                  <a:srgbClr val="FFFFFF"/>
                </a:highlight>
              </a:rPr>
              <a:t>[16] Shaffi, N., Hajamohideen, F. (2021). Few-Shot Learning for Tamil Handwritten Character Recognition Using Deep Siamese Convolutional Neural Network. In: Mahmud, M., Kaiser, M.S., Kasabov, N., Iftekharuddin, K., Zhong, N. (eds) Applied Intelligence and Informatics. AII 2021. Communications in Computer and Information Science, vol 1435. Springer, Cham. https://doi.org/10.1007/978-3-030-82269-9_16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